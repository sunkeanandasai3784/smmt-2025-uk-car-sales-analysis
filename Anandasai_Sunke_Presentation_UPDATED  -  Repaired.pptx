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09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keAnandasai3784/SMMT-2025-UK-Car-Sales-Analysi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7PAM2002 · MSc DATA SCIENCE PROJECT · PROJECT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Strong-Growth UK Car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XGBoost classifiers on DfT VEH0160 quarterly registrations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6035040" cy="18288"/>
          </a:xfrm>
          <a:prstGeom prst="rect">
            <a:avLst/>
          </a:prstGeom>
          <a:solidFill>
            <a:srgbClr val="355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(24025759)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 Irsic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5349240"/>
            <a:ext cx="7498080" cy="502920"/>
          </a:xfrm>
          <a:prstGeom prst="rect">
            <a:avLst/>
          </a:prstGeom>
          <a:solidFill>
            <a:srgbClr val="1634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hlinkClick r:id=""/>
          </p:cNvPr>
          <p:cNvSpPr/>
          <p:nvPr/>
        </p:nvSpPr>
        <p:spPr>
          <a:xfrm>
            <a:off x="1097280" y="5349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 </a:t>
            </a:r>
            <a:r>
              <a:rPr lang="en-US" sz="12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https://github.com/SunkeAnandasai3784/SMMT-2025-UK-Car-Sales-Analysis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&amp; Research Question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035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new-car registrations fell 11.1% in 2024 as buyers shift from petrol to EVs (SMMT, 2023).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growth is uneven: Tesla +45% YoY, Ford −15% in the same period.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Investors, manufacturers and policymakers need to know which makers will grow — SMMT/DfT reports describe the past, they do not predict.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classifier on the official DfT VEH0160 registration data to flag strong-growth manufacturer-quarters.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0" y="1463040"/>
            <a:ext cx="478231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0" y="1463040"/>
            <a:ext cx="109728" cy="233172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0" y="16276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1938528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50" i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machine-learning models predict whether a car manufacturer will achieve more than 10% year-on-year (YoY) growth in its quarterly registrations?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0" y="3977640"/>
            <a:ext cx="478231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4114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 &amp; scope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443484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90% accuracy to be business-useful.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threshold = meaningful growth, not noise.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Random Forest vs XGBoost on tabular data.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Ethical Considerations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61,226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VEH0160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14630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9272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13,756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456432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manufacturer-quarter rows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14630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9904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2014–2025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227064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2014 to Q3 2025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14630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60536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14.7%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997696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strong-growth (class 1)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337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&amp; structure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4983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VEH0160 — “Vehicles registered for the first time”, published quarterly by the Department for Transport (DfT).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table; filtered to BodyType = Cars, then reshaped from wide quarters to a long Make × quarter panel.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SMMT = Society of Motor Manufacturers and Traders (industry source for context figures).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200400"/>
            <a:ext cx="533095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3200400"/>
            <a:ext cx="109728" cy="301752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3337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Ethical considerations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0" y="370332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government data only — aggregate registration counts.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data: no names, addresses or owner-level details.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under a Creative Commons licence (reuse for research and commercial use permitted).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participants involved in the project.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SET-UP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Inputs and Output (used consistently)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8521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  (X — 3 engineered features)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993392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QoQ_Growth_Rate — quarter-on-quarter (QoQ) change in registrations.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— rolling standard deviation of the last 4 quarters.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Market_Share — maker’s share of total quarterly registrations.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replaced earlier lag variables that were collinear (corr &gt; 0.94).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5852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09728" cy="160020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7365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 (y — binary target)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  if  YoY growth &gt; 10%  (strong growth),  else 0.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= year-on-year (vs the same quarter last year).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463040"/>
            <a:ext cx="50566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balance</a:t>
            </a:r>
            <a:endParaRPr lang="en-US" sz="1400" dirty="0"/>
          </a:p>
        </p:txBody>
      </p:sp>
      <p:pic>
        <p:nvPicPr>
          <p:cNvPr id="18" name="Image 0" descr="/tmp/repo/figures_rework/class_balanc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12280" y="1874520"/>
            <a:ext cx="4617720" cy="2743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470916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~15% of rows are strong-growth → imbalance ratio ≈ 5.8 : 1. This shapes both metric choice and the need for class-imbalance handling.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&amp; Why These Metrics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7004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panel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267004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Cars, reshape to Make × quarter, add lags &amp; rolling stats.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9272" y="1463040"/>
            <a:ext cx="267004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47872" y="1645920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47872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02152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 features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02152" y="267004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growth, volatility, market share (low collinearity).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9904" y="1463040"/>
            <a:ext cx="267004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18504" y="1645920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18504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72784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72784" y="267004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 / validation / test = 7,737 / 2,580 / 3,439.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60536" y="1463040"/>
            <a:ext cx="267004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89136" y="1645920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89136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43416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&amp; tune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43416" y="267004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and XGBoost; GridSearchCV (5-fold) + learning curves.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1109167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109728" cy="224028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114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accuracy alone is misleading here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448056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~15% positives, a “predict all negative” model already scores 85% accuracy — so accuracy hides poor minority detection.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therefore report ROC-AUC (ranking quality), precision &amp; recall (minority class), F1 (their balance), and log loss — a proper scoring rule that penalises over-confident probabilities. Confusion matrices make the false-positive cost explicit.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—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&amp; Overfitting Assessment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029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learning curve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deep, unconstrained forest memorises the training set: train log loss ≈ 0.06 but validation ≈ 0.27 — a large gap = overfitting.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log loss is lowest around max_depth 6–8, then rises — deeper trees fit noise.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regularise via shallower depth and larger leaf size (applied in tuning).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4572000" cy="310896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0.06  vs  Validation 0.27 log loss → overfit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463040"/>
            <a:ext cx="578815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5727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 log loss vs tree depth (train vs validation)</a:t>
            </a:r>
            <a:endParaRPr lang="en-US" sz="1350" dirty="0"/>
          </a:p>
        </p:txBody>
      </p:sp>
      <p:pic>
        <p:nvPicPr>
          <p:cNvPr id="14" name="Image 0" descr="/tmp/repo/figures_rework/rf_lc_dept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920240"/>
            <a:ext cx="5303520" cy="4114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—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Tuning &amp; Class-Imbalance Trade-off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 after (test set)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466344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+ balanced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22960" y="4069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</a:t>
            </a: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halves test log loss (0.27 → 0.19) and lifts AUC/F1 — it mainly controls overfitting.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5029200"/>
            <a:ext cx="4663440" cy="310896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502920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Balancing: recall 0.58→0.97 BUT false pos 140→523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5468112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catches almost every grower but floods false alarms — exactly the marker’s point. Choice depends on the cost of a missed grower vs a false alarm.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1463040"/>
            <a:ext cx="2743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3504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Tuned (FP = 140)</a:t>
            </a:r>
            <a:endParaRPr lang="en-US" sz="1200" dirty="0"/>
          </a:p>
        </p:txBody>
      </p:sp>
      <p:pic>
        <p:nvPicPr>
          <p:cNvPr id="16" name="Image 0" descr="/tmp/repo/figures_rework/rf_cm_tun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920240"/>
            <a:ext cx="2560320" cy="40233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897112" y="1463040"/>
            <a:ext cx="2743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897112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B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Balanced (FP = 523)</a:t>
            </a:r>
            <a:endParaRPr lang="en-US" sz="1200" dirty="0"/>
          </a:p>
        </p:txBody>
      </p:sp>
      <p:pic>
        <p:nvPicPr>
          <p:cNvPr id="19" name="Image 1" descr="/tmp/repo/figures_rework/rf_cm_balanc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88552" y="1920240"/>
            <a:ext cx="2560320" cy="4023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—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Overfitting per Epoch &amp; Tuning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931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5179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Boosting = a natural epoch curve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3611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(eXtreme Gradient Boosting) adds trees one round at a time, so log loss can be tracked per boosting round.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(LR=0.3, no regularisation): validation bottoms at ~round 15 then climbs while train keeps falling — clear overfitting.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learning rate + L2 regularisation flatten the validation curve; early stopping picks ~133 rounds.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3429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5179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Baseline: log loss vs rounds</a:t>
            </a:r>
            <a:endParaRPr lang="en-US" sz="1200" dirty="0"/>
          </a:p>
        </p:txBody>
      </p:sp>
      <p:pic>
        <p:nvPicPr>
          <p:cNvPr id="12" name="Image 0" descr="/tmp/repo/figures_rework/xgb_lc_baselin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828800"/>
            <a:ext cx="3291840" cy="4206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183880" y="1417320"/>
            <a:ext cx="3456432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3880" y="1517904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vs L2 regularisation</a:t>
            </a:r>
            <a:endParaRPr lang="en-US" sz="1200" dirty="0"/>
          </a:p>
        </p:txBody>
      </p:sp>
      <p:pic>
        <p:nvPicPr>
          <p:cNvPr id="15" name="Image 1" descr="/tmp/repo/figures_rework/xgb_lc_reg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0" y="1828800"/>
            <a:ext cx="3291840" cy="42062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—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Tuned Model &amp; Class-Imbalance Handling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5727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scale_pos_weight = 5.79 (neg/pos)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5486400" cy="1645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(LR0.3)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(LR0.05+reg)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+ weighted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822960" y="4114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trade-off as RF: </a:t>
            </a: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lifts recall 0.59 → 0.92 but precision falls and false positives rise (141 → 438).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5029200"/>
            <a:ext cx="5486400" cy="310896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50292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handles the trade-off slightly better (higher F1)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546811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regularisation limits how hard it chases the minority class, so it keeps more precision than the balanced RF at similar recall.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0" y="1463040"/>
            <a:ext cx="50566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12280" y="15727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↑ vs precision ↓ across both models</a:t>
            </a:r>
            <a:endParaRPr lang="en-US" sz="1250" dirty="0"/>
          </a:p>
        </p:txBody>
      </p:sp>
      <p:pic>
        <p:nvPicPr>
          <p:cNvPr id="16" name="Image 0" descr="/tmp/repo/figures_rework/imbalance_tradeof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12280" y="1920240"/>
            <a:ext cx="4617720" cy="4114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 &amp; ROC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400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5727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comparison — test set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5943600" cy="23042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LogLoss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baseline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tuned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tuned + balanced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baseline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tuned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tuned + weighted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22960" y="443484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families reach AUC ≈ 0.95. Tuned (un-weighted) models hit ~90% accuracy (the project target). Weighting maximises recall/F1 at the cost of precision.</a:t>
            </a:r>
            <a:endParaRPr lang="en-US" sz="1200" dirty="0"/>
          </a:p>
        </p:txBody>
      </p:sp>
      <p:sp>
        <p:nvSpPr>
          <p:cNvPr id="9" name="Shape 8"/>
          <p:cNvSpPr/>
          <p:nvPr/>
        </p:nvSpPr>
        <p:spPr>
          <a:xfrm>
            <a:off x="7040880" y="1463040"/>
            <a:ext cx="45994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040880" y="1572768"/>
            <a:ext cx="4599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— final tuned models</a:t>
            </a:r>
            <a:endParaRPr lang="en-US" sz="1250" dirty="0"/>
          </a:p>
        </p:txBody>
      </p:sp>
      <p:pic>
        <p:nvPicPr>
          <p:cNvPr id="13" name="Image 0" descr="/tmp/repo/figures_rework/roc_fin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32320" y="1874520"/>
            <a:ext cx="4389120" cy="4206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Analysis &amp; Limitations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7530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75304" cy="45720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3154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≈ 0.95 for both models — strong ranking of growers vs non-growers.</a:t>
            </a:r>
            <a:endParaRPr lang="en-US" sz="118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demonstrably controls overfitting (log loss roughly halved).</a:t>
            </a:r>
            <a:endParaRPr lang="en-US" sz="118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and QoQ growth are the dominant predictors.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261104" y="1463040"/>
            <a:ext cx="357530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61104" y="1463040"/>
            <a:ext cx="3575304" cy="45720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61104" y="146304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caveats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9704" y="2103120"/>
            <a:ext cx="3154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Contemporaneous design: features and target share the same quarter, so the model classifies a strong-growth quarter rather than strictly forecasting the next one — this inflates AUC.</a:t>
            </a:r>
            <a:endParaRPr lang="en-US" sz="118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models trade precision for recall: many false positives.</a:t>
            </a:r>
            <a:endParaRPr lang="en-US" sz="118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features and 13,756 rows; no macro/EV-policy signals.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7973568" y="1463040"/>
            <a:ext cx="357530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73568" y="1463040"/>
            <a:ext cx="3575304" cy="4572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73568" y="146304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would improve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02168" y="2103120"/>
            <a:ext cx="3154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by one quarter for a true forecast and re-test.</a:t>
            </a:r>
            <a:endParaRPr lang="en-US" sz="118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decision threshold to the business cost of FP vs FN.</a:t>
            </a:r>
            <a:endParaRPr lang="en-US" sz="118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explanations and external economic features.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can flag strong-growth UK car makers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Random Forest and XGBoost reach AUC ≈ 0.95; tuned models meet the ~90% accuracy target.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Class-imbalance handling is a deliberate recall-vs-precision choice, not a free win — quantified via false positives.</a:t>
            </a:r>
            <a:endParaRPr lang="en-US" sz="1500" dirty="0"/>
          </a:p>
          <a:p>
            <a:pPr marL="342900" indent="-342900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convert to a true next-quarter forecast (lagged features), threshold tuning, SHAP explainability, and macro features.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5029200"/>
            <a:ext cx="9601200" cy="640080"/>
          </a:xfrm>
          <a:prstGeom prst="rect">
            <a:avLst/>
          </a:prstGeom>
          <a:solidFill>
            <a:srgbClr val="16345C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hlinkClick r:id=""/>
          </p:cNvPr>
          <p:cNvSpPr/>
          <p:nvPr/>
        </p:nvSpPr>
        <p:spPr>
          <a:xfrm>
            <a:off x="1097280" y="502920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 &amp; development history: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https://github.com/SunkeAnandasai3784/SMMT-2025-UK-Car-Sales-Analysis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Supervisor: Vid Irsic · 7PAM2002 Data Science Project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C6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167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8348472" y="201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9FC6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github.com/SunkeAnandasai3784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09728" cy="224028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5727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 &amp; tools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38528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 ‘Random forests’, Machine Learning, 45(1), pp. 5–32.</a:t>
            </a:r>
            <a:endParaRPr lang="en-US" sz="1250" dirty="0"/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 and Guestrin, C. (2016) ‘XGBoost: A scalable tree boosting system’, Proceedings of the 22nd ACM SIGKDD International Conference on Knowledge Discovery and Data Mining, pp. 785–794.</a:t>
            </a:r>
            <a:endParaRPr lang="en-US" sz="1250" dirty="0"/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F., Varoquaux, G., Gramfort, A. et al. (2011) ‘Scikit-learn: Machine learning in Python’, Journal of Machine Learning Research, 12, pp. 2825–2830.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0916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09728" cy="233172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99592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context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for Transport (2023) Vehicle licensing statistics: annual 2023 (VEH0160). London: DfT. Available at: https://www.gov.uk/government/statistics/vehicle-licensing-statistics-2023 (Accessed: 15 January 2025).</a:t>
            </a:r>
            <a:endParaRPr lang="en-US" sz="1250" dirty="0"/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of Motor Manufacturers and Traders (2023) New car registrations by fuel type. London: SMMT. Available at: https://www.smmt.co.uk/vehicle-data/car-registrations/ (Accessed: 15 January 2025).</a:t>
            </a:r>
            <a:endParaRPr lang="en-US" sz="1250" dirty="0"/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Energy Agency (2023) Global EV outlook 2023: catching up with climate ambitions. Paris: IEA. Available at: https://www.iea.org/reports/global-ev-outlook-2023 (Accessed: 15 January 2025).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Anandasai Sunke · 24025759 · 7PAM2002 Data Science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1776</Words>
  <Application>Microsoft Macintosh PowerPoint</Application>
  <PresentationFormat>Widescreen</PresentationFormat>
  <Paragraphs>274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Strong-Growth UK Car Manufacturers</dc:title>
  <dc:subject>PptxGenJS Presentation</dc:subject>
  <dc:creator>Anandasai Sunke</dc:creator>
  <cp:lastModifiedBy>Saddam Rahim [Student-PECS]</cp:lastModifiedBy>
  <cp:revision>2</cp:revision>
  <dcterms:created xsi:type="dcterms:W3CDTF">2026-06-08T12:21:18Z</dcterms:created>
  <dcterms:modified xsi:type="dcterms:W3CDTF">2026-06-08T12:23:19Z</dcterms:modified>
</cp:coreProperties>
</file>